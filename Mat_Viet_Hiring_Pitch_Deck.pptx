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3657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0A896"/>
                </a:solidFill>
                <a:latin typeface="Calibri"/>
              </a:defRPr>
            </a:pPr>
            <a:r>
              <a:t>MẮT VIỆT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Hệ Thống Tuyển Dụng</a:t>
            </a:r>
          </a:p>
          <a:p>
            <a:pPr algn="l">
              <a:spcAft>
                <a:spcPts val="600"/>
              </a:spcAft>
              <a:defRPr sz="4400" b="1" i="0">
                <a:solidFill>
                  <a:srgbClr val="02C39A"/>
                </a:solidFill>
                <a:latin typeface="Georgia"/>
              </a:defRPr>
            </a:pPr>
            <a:r>
              <a:t>Thông Minh</a:t>
            </a:r>
          </a:p>
          <a:p>
            <a:pPr algn="l">
              <a:spcAft>
                <a:spcPts val="600"/>
              </a:spcAft>
              <a:defRPr sz="1800" b="0" i="1">
                <a:solidFill>
                  <a:srgbClr val="8A9BAE"/>
                </a:solidFill>
                <a:latin typeface="Calibri"/>
              </a:defRPr>
            </a:pPr>
            <a:r>
              <a:t>AI-Powered Hiring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6400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1">
                <a:solidFill>
                  <a:srgbClr val="8A9BAE"/>
                </a:solidFill>
                <a:latin typeface="Calibri"/>
              </a:defRPr>
            </a:pPr>
            <a:r>
              <a:t>Từ Excel đến AI — Hành trình số hóa tuyển dụng cho Mắt Việt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8A9BAE"/>
                </a:solidFill>
                <a:latin typeface="Calibri"/>
              </a:defRPr>
            </a:pPr>
            <a:r>
              <a:t>Sanh Võ  •  Tháng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1A2A3A"/>
                </a:solidFill>
                <a:latin typeface="Georgia"/>
              </a:defRPr>
            </a:pPr>
            <a:r>
              <a:t>Một Ngày Của Chị Hương — HR Mắt Việt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1">
                <a:solidFill>
                  <a:srgbClr val="028090"/>
                </a:solidFill>
                <a:latin typeface="Calibri"/>
              </a:defRPr>
            </a:pPr>
            <a:r>
              <a:t>Câu chuyện thật, từ khảo sát ngày 07/04/2026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4864" cy="347472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E85D5D"/>
                </a:solidFill>
                <a:latin typeface="Calibri"/>
              </a:defRPr>
            </a:pPr>
            <a:r>
              <a:t>☀️  8:00 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 i="0">
                <a:solidFill>
                  <a:srgbClr val="1A2A3A"/>
                </a:solidFill>
                <a:latin typeface="Georgia"/>
              </a:defRPr>
            </a:pPr>
            <a:r>
              <a:t>Mở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286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Chị Hương mở file Excel tuyển dụng.</a:t>
            </a:r>
            <a:br/>
            <a:r>
              <a:t>Check email xem có CV mới.</a:t>
            </a:r>
            <a:br/>
            <a:r>
              <a:t>Tải CV từ TopCV về OneDrive.</a:t>
            </a:r>
            <a:br/>
            <a:r>
              <a:t>Copy thông tin vào bảng theo dõi.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92024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920240"/>
            <a:ext cx="54864" cy="347472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574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E85D5D"/>
                </a:solidFill>
                <a:latin typeface="Calibri"/>
              </a:defRPr>
            </a:pPr>
            <a:r>
              <a:t>🔍  9:30 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 i="0">
                <a:solidFill>
                  <a:srgbClr val="1A2A3A"/>
                </a:solidFill>
                <a:latin typeface="Georgia"/>
              </a:defRPr>
            </a:pPr>
            <a:r>
              <a:t>Lọc CV Thủ Công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286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Đọc từng CV, đối chiếu JD.</a:t>
            </a:r>
            <a:br/>
            <a:r>
              <a:t>Ngành nghề → Kỹ năng → Kinh nghiệm.</a:t>
            </a:r>
            <a:br/>
            <a:r>
              <a:t>20-50 CV mỗi vị trí.</a:t>
            </a:r>
            <a:br/>
            <a:r>
              <a:t>Mất cả buổi sáng cho 1 vị trí.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2024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920240"/>
            <a:ext cx="54864" cy="34747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F0B429"/>
                </a:solidFill>
                <a:latin typeface="Calibri"/>
              </a:defRPr>
            </a:pPr>
            <a:r>
              <a:t>📧  1:30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 i="0">
                <a:solidFill>
                  <a:srgbClr val="1A2A3A"/>
                </a:solidFill>
                <a:latin typeface="Georgia"/>
              </a:defRPr>
            </a:pPr>
            <a:r>
              <a:t>Email Thủ Công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2286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Copy template email, sửa tên.</a:t>
            </a:r>
            <a:br/>
            <a:r>
              <a:t>Gửi mời phỏng vấn từng người.</a:t>
            </a:r>
            <a:br/>
            <a:r>
              <a:t>Gọi điện + Zalo xác nhận.</a:t>
            </a:r>
            <a:br/>
            <a:r>
              <a:t>Dưới 5 email/ngày nhưng tốn thời gian.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192024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920240"/>
            <a:ext cx="54864" cy="347472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0574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E85D5D"/>
                </a:solidFill>
                <a:latin typeface="Calibri"/>
              </a:defRPr>
            </a:pPr>
            <a:r>
              <a:t>📊  4:00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3774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 i="0">
                <a:solidFill>
                  <a:srgbClr val="1A2A3A"/>
                </a:solidFill>
                <a:latin typeface="Georgia"/>
              </a:defRPr>
            </a:pPr>
            <a:r>
              <a:t>Báo Cáo Cho Sếp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834640"/>
            <a:ext cx="2286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Trưởng phòng hỏi tiến độ.</a:t>
            </a:r>
            <a:br/>
            <a:r>
              <a:t>Gửi file Excel qua email.</a:t>
            </a:r>
            <a:br/>
            <a:r>
              <a:t>Khó so sánh ứng viên thống nhất.</a:t>
            </a:r>
            <a:br/>
            <a:r>
              <a:t>Không có dashboard tổng quan.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1">
                <a:solidFill>
                  <a:srgbClr val="028090"/>
                </a:solidFill>
                <a:latin typeface="Calibri"/>
              </a:defRPr>
            </a:pPr>
            <a:r>
              <a:t>"Tôi cần 1 phần mềm tiện lợi, dễ sử dụng, không mất nhiều thời gian." — Bùi Thị Hương, HR Staff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Vấn Đề Hiện Tại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1">
                <a:solidFill>
                  <a:srgbClr val="00A896"/>
                </a:solidFill>
                <a:latin typeface="Calibri"/>
              </a:defRPr>
            </a:pPr>
            <a:r>
              <a:t>4 khó khăn chính từ khảo sát HR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212080" cy="192024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371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600" b="1" i="0">
                <a:solidFill>
                  <a:srgbClr val="E85D5D"/>
                </a:solidFill>
                <a:latin typeface="Georgia"/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8A9BAE"/>
                </a:solidFill>
                <a:latin typeface="Calibri"/>
              </a:defRPr>
            </a:pPr>
            <a:r>
              <a:t>thời gian lọc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03120"/>
            <a:ext cx="2743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CCDDEE"/>
                </a:solidFill>
                <a:latin typeface="Calibri"/>
              </a:defRPr>
            </a:pPr>
            <a:r>
              <a:t>Đọc 20-50 CV thủ công mỗi vị trí,</a:t>
            </a:r>
            <a:br/>
            <a:r>
              <a:t>đối chiếu 6 tiêu chí bằng mắt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5212080" cy="192024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1371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600" b="1" i="0">
                <a:solidFill>
                  <a:srgbClr val="E85D5D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8A9BAE"/>
                </a:solidFill>
                <a:latin typeface="Calibri"/>
              </a:defRPr>
            </a:pPr>
            <a:r>
              <a:t>hệ thống đánh giá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03120"/>
            <a:ext cx="2743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CCDDEE"/>
                </a:solidFill>
                <a:latin typeface="Calibri"/>
              </a:defRPr>
            </a:pPr>
            <a:r>
              <a:t>Không có cách so sánh ứng viên</a:t>
            </a:r>
            <a:br/>
            <a:r>
              <a:t>thống nhất giữa các người PV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5212080" cy="192024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1371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600" b="1" i="0">
                <a:solidFill>
                  <a:srgbClr val="E85D5D"/>
                </a:solidFill>
                <a:latin typeface="Georgia"/>
              </a:defRPr>
            </a:pPr>
            <a:r>
              <a:t>4+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2064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8A9BAE"/>
                </a:solidFill>
                <a:latin typeface="Calibri"/>
              </a:defRPr>
            </a:pPr>
            <a:r>
              <a:t>nơi lưu 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297680"/>
            <a:ext cx="2743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CCDDEE"/>
                </a:solidFill>
                <a:latin typeface="Calibri"/>
              </a:defRPr>
            </a:pPr>
            <a:r>
              <a:t>OneDrive, email, TopCV, CareerViet</a:t>
            </a:r>
            <a:br/>
            <a:r>
              <a:t>— rải rác, khó tìm lại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023360"/>
            <a:ext cx="5212080" cy="192024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1371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600" b="1" i="0">
                <a:solidFill>
                  <a:srgbClr val="E85D5D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12064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8A9BAE"/>
                </a:solidFill>
                <a:latin typeface="Calibri"/>
              </a:defRPr>
            </a:pPr>
            <a:r>
              <a:t>báo cáo tự động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297680"/>
            <a:ext cx="2743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CCDDEE"/>
                </a:solidFill>
                <a:latin typeface="Calibri"/>
              </a:defRPr>
            </a:pPr>
            <a:r>
              <a:t>Sếp hỏi tiến độ → gửi file Excel</a:t>
            </a:r>
            <a:br/>
            <a:r>
              <a:t>Không có dashboard real-time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1A2A3A"/>
                </a:solidFill>
                <a:latin typeface="Georgia"/>
              </a:defRPr>
            </a:pPr>
            <a:r>
              <a:t>Giải Pháp: Mắt Việt Hiring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1">
                <a:solidFill>
                  <a:srgbClr val="028090"/>
                </a:solidFill>
                <a:latin typeface="Calibri"/>
              </a:defRPr>
            </a:pPr>
            <a:r>
              <a:t>Một nền tảng — mọi thứ chị Hương cần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2A3A"/>
                </a:solidFill>
                <a:latin typeface="Georgia"/>
              </a:defRPr>
            </a:pPr>
            <a:r>
              <a:t>AI Lọc 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Gemini AI phân tích &amp; chấm</a:t>
            </a:r>
            <a:br/>
            <a:r>
              <a:t>điểm tự động theo JD.</a:t>
            </a:r>
            <a:br/>
            <a:r>
              <a:t>Giảm 70% thời gian.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54864" cy="2011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01168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0116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2A3A"/>
                </a:solidFill>
                <a:latin typeface="Georgia"/>
              </a:defRPr>
            </a:pPr>
            <a:r>
              <a:t>CV Tập Trung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TopCV, CareerViet, email,</a:t>
            </a:r>
            <a:br/>
            <a:r>
              <a:t>upload — tất cả vào 1 nơi.</a:t>
            </a:r>
            <a:br/>
            <a:r>
              <a:t>Không bao giờ mất CV.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54864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0" y="201168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0116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2A3A"/>
                </a:solidFill>
                <a:latin typeface="Georgia"/>
              </a:defRPr>
            </a:pPr>
            <a:r>
              <a:t>So Sánh &amp; Xếp Hạng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603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Bảng điểm chuẩn hóa.</a:t>
            </a:r>
            <a:br/>
            <a:r>
              <a:t>Trưởng phòng đánh giá online.</a:t>
            </a:r>
            <a:br/>
            <a:r>
              <a:t>So sánh minh bạch.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54864" cy="2011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2976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2A3A"/>
                </a:solidFill>
                <a:latin typeface="Georgia"/>
              </a:defRPr>
            </a:pPr>
            <a:r>
              <a:t>Email Tự Động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Template có sẵn, 1 click gửi.</a:t>
            </a:r>
            <a:br/>
            <a:r>
              <a:t>Mời PV, thông báo, offer.</a:t>
            </a:r>
            <a:br/>
            <a:r>
              <a:t>Tích hợp Office 365.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11480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54864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429768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2976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2A3A"/>
                </a:solidFill>
                <a:latin typeface="Georgia"/>
              </a:defRPr>
            </a:pPr>
            <a:r>
              <a:t>Lịch Phỏng Vấn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463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Tạo lịch + gửi invite</a:t>
            </a:r>
            <a:br/>
            <a:r>
              <a:t>Outlook tự động.</a:t>
            </a:r>
            <a:br/>
            <a:r>
              <a:t>Không gọi điện xác nhận.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11480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114800"/>
            <a:ext cx="54864" cy="2011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600" y="429768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2976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2A3A"/>
                </a:solidFill>
                <a:latin typeface="Georgia"/>
              </a:defRPr>
            </a:pPr>
            <a:r>
              <a:t>Dashboard &amp; Báo Cáo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8463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Pipeline real-time.</a:t>
            </a:r>
            <a:br/>
            <a:r>
              <a:t>Thống kê cho sếp ngay lập tức.</a:t>
            </a:r>
            <a:br/>
            <a:r>
              <a:t>Xuất PDF/Excel.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1A2A3A"/>
                </a:solidFill>
                <a:latin typeface="Georgia"/>
              </a:defRPr>
            </a:pPr>
            <a:r>
              <a:t>Trước &amp; Sau — Một Ngày Mới Của HR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54864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TRƯỚC — Thủ Công &amp; Rời Rạc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E85D5D"/>
                </a:solidFill>
                <a:latin typeface="Calibri"/>
              </a:defRPr>
            </a:pPr>
            <a:r>
              <a:t>✗  Lọc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19456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Đọc 20-50 CV bằng mắt, mất cả buổi sáng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E85D5D"/>
                </a:solidFill>
                <a:latin typeface="Calibri"/>
              </a:defRPr>
            </a:pPr>
            <a:r>
              <a:t>✗  Lưu trữ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92608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OneDrive + Email + Web — rải rác 4+ nơi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E85D5D"/>
                </a:solidFill>
                <a:latin typeface="Calibri"/>
              </a:defRPr>
            </a:pPr>
            <a:r>
              <a:t>✗ 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65760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Copy-paste template, sửa tên, gửi từng người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E85D5D"/>
                </a:solidFill>
                <a:latin typeface="Calibri"/>
              </a:defRPr>
            </a:pPr>
            <a:r>
              <a:t>✗  Phỏng vấn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38912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Gọi điện + Zalo xác nhận lịch thủ công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E85D5D"/>
                </a:solidFill>
                <a:latin typeface="Calibri"/>
              </a:defRPr>
            </a:pPr>
            <a:r>
              <a:t>✗  Đánh giá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12064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Trưởng phòng gửi nhận xét qua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E85D5D"/>
                </a:solidFill>
                <a:latin typeface="Calibri"/>
              </a:defRPr>
            </a:pPr>
            <a:r>
              <a:t>✗  Báo cáo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585216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Gửi file Excel cho sếp khi được hỏi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200400"/>
            <a:ext cx="731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 i="0">
                <a:solidFill>
                  <a:srgbClr val="028090"/>
                </a:solidFill>
                <a:latin typeface="Georgia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463040"/>
            <a:ext cx="521208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50876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SAU — Tự Động &amp; Tập Trung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1463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✓  AI Screening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945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Gemini chấm điểm 50 CV trong &lt; 5 phút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1463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✓  1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92608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Tất cả CV từ mọi nguồn — 1 nơi duy nhất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657600"/>
            <a:ext cx="1463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✓  1-Click Email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6576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Template tự động, cá nhân hóa, gửi ngay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389120"/>
            <a:ext cx="1463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✓  Calendar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38912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Tạo lịch + invite Outlook tự động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20640"/>
            <a:ext cx="1463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✓  Form Online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1206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Form đánh giá chuẩn hóa, so sánh được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852160"/>
            <a:ext cx="1463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✓  Real-time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8521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Dashboard live, xuất báo cáo bất kỳ lúc nào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1A2A3A"/>
                </a:solidFill>
                <a:latin typeface="Georgia"/>
              </a:defRPr>
            </a:pPr>
            <a:r>
              <a:t>Quy Trình Tuyển Dụng Mới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1">
                <a:solidFill>
                  <a:srgbClr val="028090"/>
                </a:solidFill>
                <a:latin typeface="Calibri"/>
              </a:defRPr>
            </a:pPr>
            <a:r>
              <a:t>7 bước — từ đăng tin đến nhận việc, tất cả trên 1 hệ thống</a:t>
            </a:r>
          </a:p>
        </p:txBody>
      </p:sp>
      <p:sp>
        <p:nvSpPr>
          <p:cNvPr id="5" name="Oval 4"/>
          <p:cNvSpPr/>
          <p:nvPr/>
        </p:nvSpPr>
        <p:spPr>
          <a:xfrm>
            <a:off x="1167231" y="20116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3071" y="2103120"/>
            <a:ext cx="1645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 i="0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471" y="278892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A2A3A"/>
                </a:solidFill>
                <a:latin typeface="Georgia"/>
              </a:defRPr>
            </a:pPr>
            <a:r>
              <a:t>Đăng 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471" y="3200400"/>
            <a:ext cx="1371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Tạo JD +</a:t>
            </a:r>
            <a:br/>
            <a:r>
              <a:t>tiêu chí AI</a:t>
            </a:r>
          </a:p>
        </p:txBody>
      </p:sp>
      <p:sp>
        <p:nvSpPr>
          <p:cNvPr id="9" name="Oval 8"/>
          <p:cNvSpPr/>
          <p:nvPr/>
        </p:nvSpPr>
        <p:spPr>
          <a:xfrm>
            <a:off x="2703423" y="201168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9263" y="2103120"/>
            <a:ext cx="1645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 i="0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7663" y="278892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A2A3A"/>
                </a:solidFill>
                <a:latin typeface="Georgia"/>
              </a:defRPr>
            </a:pPr>
            <a:r>
              <a:t>Thu 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7663" y="3200400"/>
            <a:ext cx="1371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TopCV, email,</a:t>
            </a:r>
            <a:br/>
            <a:r>
              <a:t>upload tự động</a:t>
            </a:r>
          </a:p>
        </p:txBody>
      </p:sp>
      <p:sp>
        <p:nvSpPr>
          <p:cNvPr id="13" name="Oval 12"/>
          <p:cNvSpPr/>
          <p:nvPr/>
        </p:nvSpPr>
        <p:spPr>
          <a:xfrm>
            <a:off x="4239615" y="20116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5455" y="2103120"/>
            <a:ext cx="1645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 i="0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3855" y="278892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A2A3A"/>
                </a:solidFill>
                <a:latin typeface="Georgia"/>
              </a:defRPr>
            </a:pPr>
            <a:r>
              <a:t>AI Lọc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3855" y="3200400"/>
            <a:ext cx="1371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Chấm điểm</a:t>
            </a:r>
            <a:br/>
            <a:r>
              <a:t>&amp; xếp hạng</a:t>
            </a:r>
          </a:p>
        </p:txBody>
      </p:sp>
      <p:sp>
        <p:nvSpPr>
          <p:cNvPr id="17" name="Oval 16"/>
          <p:cNvSpPr/>
          <p:nvPr/>
        </p:nvSpPr>
        <p:spPr>
          <a:xfrm>
            <a:off x="5775807" y="201168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647" y="2103120"/>
            <a:ext cx="1645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 i="0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0047" y="278892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A2A3A"/>
                </a:solidFill>
                <a:latin typeface="Georgia"/>
              </a:defRPr>
            </a:pPr>
            <a:r>
              <a:t>HR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047" y="3200400"/>
            <a:ext cx="1371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Duyệt top CV</a:t>
            </a:r>
            <a:br/>
            <a:r>
              <a:t>gửi Trưởng phòng</a:t>
            </a:r>
          </a:p>
        </p:txBody>
      </p:sp>
      <p:sp>
        <p:nvSpPr>
          <p:cNvPr id="21" name="Oval 20"/>
          <p:cNvSpPr/>
          <p:nvPr/>
        </p:nvSpPr>
        <p:spPr>
          <a:xfrm>
            <a:off x="7311999" y="20116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7839" y="2103120"/>
            <a:ext cx="1645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 i="0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78892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A2A3A"/>
                </a:solidFill>
                <a:latin typeface="Georgia"/>
              </a:defRPr>
            </a:pPr>
            <a:r>
              <a:t>Phỏng Vấn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3200400"/>
            <a:ext cx="1371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Lịch tự động</a:t>
            </a:r>
            <a:br/>
            <a:r>
              <a:t>+ form đánh giá</a:t>
            </a:r>
          </a:p>
        </p:txBody>
      </p:sp>
      <p:sp>
        <p:nvSpPr>
          <p:cNvPr id="25" name="Oval 24"/>
          <p:cNvSpPr/>
          <p:nvPr/>
        </p:nvSpPr>
        <p:spPr>
          <a:xfrm>
            <a:off x="8848191" y="201168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4031" y="2103120"/>
            <a:ext cx="1645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 i="0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2431" y="278892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A2A3A"/>
                </a:solidFill>
                <a:latin typeface="Georgia"/>
              </a:defRPr>
            </a:pPr>
            <a:r>
              <a:t>Duyệt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2431" y="3200400"/>
            <a:ext cx="1371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TP đề xuất</a:t>
            </a:r>
            <a:br/>
            <a:r>
              <a:t>→ HR → Offer</a:t>
            </a:r>
          </a:p>
        </p:txBody>
      </p:sp>
      <p:sp>
        <p:nvSpPr>
          <p:cNvPr id="29" name="Oval 28"/>
          <p:cNvSpPr/>
          <p:nvPr/>
        </p:nvSpPr>
        <p:spPr>
          <a:xfrm>
            <a:off x="10384383" y="201168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8623" y="278892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A2A3A"/>
                </a:solidFill>
                <a:latin typeface="Georgia"/>
              </a:defRPr>
            </a:pPr>
            <a:r>
              <a:t>Nhận Việc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8623" y="3200400"/>
            <a:ext cx="1371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Email offer</a:t>
            </a:r>
            <a:br/>
            <a:r>
              <a:t>tự động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4389120"/>
            <a:ext cx="9418320" cy="182880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452628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Ưu tiên #1 của HR: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526280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AI lọc CV tự động — giảm 70% thời gian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4910328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Ưu tiên #2: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910328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Xếp hạng &amp; so sánh ứng viên chuẩn hóa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294376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Ưu tiên #3: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294376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Tập trung 100% CV từ mọi nguồn vào 1 nơi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5678424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Yêu cầu UX: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678424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Đơn giản, ít nút, bảng dữ liệu kiểu Excel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1A2A3A"/>
                </a:solidFill>
                <a:latin typeface="Georgia"/>
              </a:defRPr>
            </a:pPr>
            <a:r>
              <a:t>Công Nghệ &amp; 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1">
                <a:solidFill>
                  <a:srgbClr val="028090"/>
                </a:solidFill>
                <a:latin typeface="Calibri"/>
              </a:defRPr>
            </a:pPr>
            <a:r>
              <a:t>Modern stack — nhanh, bảo mật, dễ mở rộng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54864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Next.js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React framework, SSR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54864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649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shadcn/ui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758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UI components đẹp, nhẹ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54864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793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902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Styling nhanh, responsive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54864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937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Framer 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046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Animation mượt mà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1737360"/>
            <a:ext cx="347472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39" y="17830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Backend &amp;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23774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2377440"/>
            <a:ext cx="54864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24505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27614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PostgreSQL + Auth + 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32918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59" y="3291840"/>
            <a:ext cx="54864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39" y="33649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Gemini 2.5 Flash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36758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AI CV parsing &amp; scoring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59" y="42062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59" y="4206240"/>
            <a:ext cx="54864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39" y="42793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MS Graph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39" y="45902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Email &amp; Calendar O365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59" y="51206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80559" y="5120640"/>
            <a:ext cx="54864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39" y="51937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Row Level 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39" y="55046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Bảo mật cấp dòng dữ liệu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598" y="1737360"/>
            <a:ext cx="347472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8" y="17830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DevOps &amp; Tích Hợp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598" y="23774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598" y="2377440"/>
            <a:ext cx="54864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8" y="24505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Netlify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8" y="27614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CI/CD + CDN global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598" y="32918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598" y="3291840"/>
            <a:ext cx="54864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78" y="33649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TopCV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78" y="36758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Auto-pull CV ứng viên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598" y="42062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598" y="4206240"/>
            <a:ext cx="54864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8" y="42793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Supabase Storage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78" y="45902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Lưu trữ CV an toàn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598" y="5120640"/>
            <a:ext cx="3474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29598" y="5120640"/>
            <a:ext cx="54864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78" y="519379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A2A3A"/>
                </a:solidFill>
                <a:latin typeface="Calibri"/>
              </a:defRPr>
            </a:pPr>
            <a:r>
              <a:t>React Query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78" y="55046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Data caching thông minh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028090"/>
                </a:solidFill>
                <a:latin typeface="Calibri"/>
              </a:defRPr>
            </a:pPr>
            <a:r>
              <a:t>Tại sao stack này? → Tận dụng Office 365 có sẵn (miễn phí), Gemini giá rẻ nhất thị trường, Supabase all-in-one backend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1A2A3A"/>
                </a:solidFill>
                <a:latin typeface="Georgia"/>
              </a:defRPr>
            </a:pPr>
            <a:r>
              <a:t>Lộ Trình 8 Tuần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1">
                <a:solidFill>
                  <a:srgbClr val="028090"/>
                </a:solidFill>
                <a:latin typeface="Calibri"/>
              </a:defRPr>
            </a:pPr>
            <a:r>
              <a:t>Tháng 5 — Tháng 6, 2026  •  Solo Dev + AI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109728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628900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6289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028090"/>
                </a:solidFill>
                <a:latin typeface="Georgia"/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6289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8A9BAE"/>
                </a:solidFill>
                <a:latin typeface="Calibri"/>
              </a:defRPr>
            </a:pPr>
            <a:r>
              <a:t>Tuần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24460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Database &amp;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24460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UI skeleton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24460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Login &amp; phân quyền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6140" y="1965960"/>
            <a:ext cx="2628900" cy="20116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6140" y="2286000"/>
            <a:ext cx="26289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00A896"/>
                </a:solidFill>
                <a:latin typeface="Georgia"/>
              </a:defRPr>
            </a:pPr>
            <a:r>
              <a:t>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6140" y="2651760"/>
            <a:ext cx="26289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8A9BAE"/>
                </a:solidFill>
                <a:latin typeface="Calibri"/>
              </a:defRPr>
            </a:pPr>
            <a:r>
              <a:t>Tuần 3-4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7580" y="2971800"/>
            <a:ext cx="24460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Job postings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7580" y="3291840"/>
            <a:ext cx="24460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CV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580" y="3611880"/>
            <a:ext cx="24460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AI screening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965960"/>
            <a:ext cx="2628900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286000"/>
            <a:ext cx="26289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028090"/>
                </a:solidFill>
                <a:latin typeface="Georgia"/>
              </a:defRPr>
            </a:pPr>
            <a:r>
              <a:t>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651760"/>
            <a:ext cx="26289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8A9BAE"/>
                </a:solidFill>
                <a:latin typeface="Calibri"/>
              </a:defRPr>
            </a:pPr>
            <a:r>
              <a:t>Tuần 5-6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971800"/>
            <a:ext cx="24460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Email Office 365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291840"/>
            <a:ext cx="24460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Calendar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11880"/>
            <a:ext cx="24460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TopCV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55380" y="1965960"/>
            <a:ext cx="1291590" cy="20116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5380" y="2286000"/>
            <a:ext cx="129159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00A896"/>
                </a:solidFill>
                <a:latin typeface="Georgia"/>
              </a:defRPr>
            </a:pPr>
            <a:r>
              <a:t>Advanced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5380" y="2651760"/>
            <a:ext cx="129159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8A9BAE"/>
                </a:solidFill>
                <a:latin typeface="Calibri"/>
              </a:defRPr>
            </a:pPr>
            <a:r>
              <a:t>Tuần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6820" y="2971800"/>
            <a:ext cx="110871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Approval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6820" y="3291840"/>
            <a:ext cx="110871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6820" y="3611880"/>
            <a:ext cx="110871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Reports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92690" y="1965960"/>
            <a:ext cx="1291590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92690" y="2286000"/>
            <a:ext cx="129159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02C39A"/>
                </a:solidFill>
                <a:latin typeface="Georgia"/>
              </a:defRPr>
            </a:pPr>
            <a:r>
              <a:t>Launch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92690" y="2651760"/>
            <a:ext cx="129159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8A9BAE"/>
                </a:solidFill>
                <a:latin typeface="Calibri"/>
              </a:defRPr>
            </a:pPr>
            <a:r>
              <a:t>Tuần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4130" y="2971800"/>
            <a:ext cx="110871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Testing &amp; bugs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4130" y="3291840"/>
            <a:ext cx="110871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Deploy production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4130" y="3611880"/>
            <a:ext cx="110871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556575"/>
                </a:solidFill>
                <a:latin typeface="Calibri"/>
              </a:defRPr>
            </a:pPr>
            <a:r>
              <a:t>•  Training 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212080"/>
            <a:ext cx="10698480" cy="118872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34924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Tuần 4: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349240"/>
            <a:ext cx="8686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HR có thể đăng tin, xem AI score CV — demo lần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696712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Tuần 6: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696712"/>
            <a:ext cx="8686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Email automation hoạt động, lịch PV tích hợp — demo lần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6044184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Tuần 8: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6044184"/>
            <a:ext cx="8686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Production launch + Training cho chị Hương (2 buổi × 2-3 giờ)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Chi Phí &amp; Đầu Tư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3566160" cy="393192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Thuê Software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 i="0">
                <a:solidFill>
                  <a:srgbClr val="8A9BAE"/>
                </a:solidFill>
                <a:latin typeface="Georgia"/>
              </a:defRPr>
            </a:pPr>
            <a:r>
              <a:t>150-300</a:t>
            </a:r>
            <a:br/>
            <a:r>
              <a:t>triệu VND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AABBCC"/>
                </a:solidFill>
                <a:latin typeface="Calibri"/>
              </a:defRPr>
            </a:pPr>
            <a:r>
              <a:t>Team 3-4 người</a:t>
            </a:r>
            <a:br/>
            <a:r>
              <a:t>3-4 tháng</a:t>
            </a:r>
            <a:br/>
            <a:r>
              <a:t>Quy trình formal</a:t>
            </a:r>
            <a:br/>
            <a:r>
              <a:t>Chi phí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463040"/>
            <a:ext cx="3566160" cy="3931920"/>
          </a:xfrm>
          <a:prstGeom prst="rect">
            <a:avLst/>
          </a:prstGeom>
          <a:solidFill>
            <a:srgbClr val="0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463040"/>
            <a:ext cx="356616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5340096"/>
            <a:ext cx="356616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73736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 i="0">
                <a:solidFill>
                  <a:srgbClr val="02C39A"/>
                </a:solidFill>
                <a:latin typeface="Georgia"/>
              </a:defRPr>
            </a:pPr>
            <a:r>
              <a:t>Solo Dev + AI</a:t>
            </a:r>
            <a:br/>
            <a:r>
              <a:t>(Phương Án Này)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5603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 i="0">
                <a:solidFill>
                  <a:srgbClr val="02C39A"/>
                </a:solidFill>
                <a:latin typeface="Georgia"/>
              </a:defRPr>
            </a:pPr>
            <a:r>
              <a:t>35</a:t>
            </a:r>
            <a:br/>
            <a:r>
              <a:t>triệu VND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840480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AABBCC"/>
                </a:solidFill>
                <a:latin typeface="Calibri"/>
              </a:defRPr>
            </a:pPr>
            <a:r>
              <a:t>1 dev + AI tools</a:t>
            </a:r>
            <a:br/>
            <a:r>
              <a:t>2 tháng</a:t>
            </a:r>
            <a:br/>
            <a:r>
              <a:t>Custom cho Mắt Việt</a:t>
            </a:r>
            <a:br/>
            <a:r>
              <a:t>Hỗ trợ 1 tháng 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463040"/>
            <a:ext cx="3566160" cy="393192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73736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Mua SaaS HR</a:t>
            </a:r>
            <a:br/>
            <a:r>
              <a:t>(Base.vn, HRnest...)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5603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 i="0">
                <a:solidFill>
                  <a:srgbClr val="8A9BAE"/>
                </a:solidFill>
                <a:latin typeface="Georgia"/>
              </a:defRPr>
            </a:pPr>
            <a:r>
              <a:t>36-96</a:t>
            </a:r>
            <a:br/>
            <a:r>
              <a:t>triệu/năm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840480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AABBCC"/>
                </a:solidFill>
                <a:latin typeface="Calibri"/>
              </a:defRPr>
            </a:pPr>
            <a:r>
              <a:t>Phí hàng tháng mãi mãi</a:t>
            </a:r>
            <a:br/>
            <a:r>
              <a:t>Không customize được</a:t>
            </a:r>
            <a:br/>
            <a:r>
              <a:t>3-8 triệu/tháng</a:t>
            </a:r>
            <a:br/>
            <a:r>
              <a:t>Dữ liệu ngoài tay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577840"/>
            <a:ext cx="11430000" cy="82296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6692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0A896"/>
                </a:solidFill>
                <a:latin typeface="Calibri"/>
              </a:defRPr>
            </a:pPr>
            <a:r>
              <a:t>Chi phí hạ tầng hàng tháng: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98932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8A9BAE"/>
                </a:solidFill>
                <a:latin typeface="Calibri"/>
              </a:defRPr>
            </a:pPr>
            <a:r>
              <a:t>~675,000 - 900,000 VND/tháng (Supabase $25 + Netlify free + Gemini ~$1 + Domain ~$1). Office 365 &amp; TopCV: đã có sẵn.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1A2A3A"/>
                </a:solidFill>
                <a:latin typeface="Georgia"/>
              </a:defRPr>
            </a:pPr>
            <a:r>
              <a:t>Giá Trị Mang Lại /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566160" cy="256032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566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600" b="1" i="0">
                <a:solidFill>
                  <a:srgbClr val="028090"/>
                </a:solidFill>
                <a:latin typeface="Georgia"/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1A2A3A"/>
                </a:solidFill>
                <a:latin typeface="Georgia"/>
              </a:defRPr>
            </a:pPr>
            <a:r>
              <a:t>Giảm thời gian</a:t>
            </a:r>
            <a:br/>
            <a:r>
              <a:t>lọc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566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AI thay thế đọc thủ công</a:t>
            </a:r>
            <a:br/>
            <a:r>
              <a:t>20-50 CV → 5 phút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463040"/>
            <a:ext cx="3566160" cy="256032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566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600" b="1" i="0">
                <a:solidFill>
                  <a:srgbClr val="00A896"/>
                </a:solidFill>
                <a:latin typeface="Georgia"/>
              </a:defRPr>
            </a:pPr>
            <a:r>
              <a:t>5-12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5176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1A2A3A"/>
                </a:solidFill>
                <a:latin typeface="Georgia"/>
              </a:defRPr>
            </a:pPr>
            <a:r>
              <a:t>tháng hoàn vốn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0400"/>
            <a:ext cx="3566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So với SaaS HR</a:t>
            </a:r>
            <a:br/>
            <a:r>
              <a:t>36-96 triệu/năm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463040"/>
            <a:ext cx="3566160" cy="256032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3566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600" b="1" i="0">
                <a:solidFill>
                  <a:srgbClr val="02C39A"/>
                </a:solidFill>
                <a:latin typeface="Georgia"/>
              </a:defRPr>
            </a:pPr>
            <a:r>
              <a:t>20-30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1A2A3A"/>
                </a:solidFill>
                <a:latin typeface="Georgia"/>
              </a:defRPr>
            </a:pPr>
            <a:r>
              <a:t>giờ/tháng tiết kiệm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3566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556575"/>
                </a:solidFill>
                <a:latin typeface="Calibri"/>
              </a:defRPr>
            </a:pPr>
            <a:r>
              <a:t>Thời gian HR tiết kiệm</a:t>
            </a:r>
            <a:br/>
            <a:r>
              <a:t>≈ 5-8 triệu VND giá trị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2A3A"/>
                </a:solidFill>
                <a:latin typeface="Georgia"/>
              </a:defRPr>
            </a:pPr>
            <a:r>
              <a:t>Lợi ích vượt xa con số: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19472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Chuyên nghiệp hóa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4632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Quy trình chuẩn, ứng viên có ấn tượng tốt với Mắt Việt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358384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28523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Minh bạch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8523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Mọi quyết định tuyển dụng có dữ liệu backing, dễ justify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797296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724144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Mở rộng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724144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Hệ thống sẵn sàng khi Mắt Việt tuyển nhiều hơn, thêm chi nhánh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6236208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6163056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28090"/>
                </a:solidFill>
                <a:latin typeface="Calibri"/>
              </a:defRPr>
            </a:pPr>
            <a:r>
              <a:t>Sở hữu dữ liệu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6163056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100% data thuộc về Mắt Việt, không phụ thuộc SaaS bên ngoài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1A2A3A"/>
                </a:solidFill>
                <a:latin typeface="Georgia"/>
              </a:defRPr>
            </a:pPr>
            <a:r>
              <a:t>Thanh Toán &amp; Cam Kết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566160" cy="274320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028090"/>
                </a:solidFill>
                <a:latin typeface="Calibri"/>
              </a:defRPr>
            </a:pPr>
            <a:r>
              <a:t>Đợt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566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 i="0">
                <a:solidFill>
                  <a:srgbClr val="028090"/>
                </a:solidFill>
                <a:latin typeface="Georgia"/>
              </a:defRPr>
            </a:pPr>
            <a: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 i="0">
                <a:solidFill>
                  <a:srgbClr val="1A2A3A"/>
                </a:solidFill>
                <a:latin typeface="Georgia"/>
              </a:defRPr>
            </a:pPr>
            <a:r>
              <a:t>10,500,000đ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566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556575"/>
                </a:solidFill>
                <a:latin typeface="Calibri"/>
              </a:defRPr>
            </a:pPr>
            <a:r>
              <a:t>Khi bắt đầu dự án</a:t>
            </a:r>
            <a:br/>
            <a:r>
              <a:t>(Ký hợp đồng)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463040"/>
            <a:ext cx="3566160" cy="274320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00A896"/>
                </a:solidFill>
                <a:latin typeface="Calibri"/>
              </a:defRPr>
            </a:pPr>
            <a:r>
              <a:t>Đợt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566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 i="0">
                <a:solidFill>
                  <a:srgbClr val="00A896"/>
                </a:solidFill>
                <a:latin typeface="Georgia"/>
              </a:defRPr>
            </a:pPr>
            <a: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5176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 i="0">
                <a:solidFill>
                  <a:srgbClr val="1A2A3A"/>
                </a:solidFill>
                <a:latin typeface="Georgia"/>
              </a:defRPr>
            </a:pPr>
            <a:r>
              <a:t>14,000,000đ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200400"/>
            <a:ext cx="3566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556575"/>
                </a:solidFill>
                <a:latin typeface="Calibri"/>
              </a:defRPr>
            </a:pPr>
            <a:r>
              <a:t>Hoàn thành Phase 3</a:t>
            </a:r>
            <a:br/>
            <a:r>
              <a:t>(Demo email automation)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463040"/>
            <a:ext cx="3566160" cy="274320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02C39A"/>
                </a:solidFill>
                <a:latin typeface="Calibri"/>
              </a:defRPr>
            </a:pPr>
            <a:r>
              <a:t>Đợt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566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 i="0">
                <a:solidFill>
                  <a:srgbClr val="02C39A"/>
                </a:solidFill>
                <a:latin typeface="Georgia"/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 i="0">
                <a:solidFill>
                  <a:srgbClr val="1A2A3A"/>
                </a:solidFill>
                <a:latin typeface="Georgia"/>
              </a:defRPr>
            </a:pPr>
            <a:r>
              <a:t>10,500,000đ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00400"/>
            <a:ext cx="3566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556575"/>
                </a:solidFill>
                <a:latin typeface="Calibri"/>
              </a:defRPr>
            </a:pPr>
            <a:r>
              <a:t>Bàn giao + Training</a:t>
            </a:r>
            <a:br/>
            <a:r>
              <a:t>(Go-live)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2A3A"/>
                </a:solidFill>
                <a:latin typeface="Georgia"/>
              </a:defRPr>
            </a:pPr>
            <a:r>
              <a:t>Cam Kết Đi Kèm: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102352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0292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1 tháng hỗ trợ miễn phí sau bàn giao (fix bugs, điều chỉnh nhỏ)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486400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41324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2 buổi training cho HR staff (2-3 giờ/buổi) + tài liệu hướng dẫn tiếng Việt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870448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797296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Source code thuộc sở hữu Mắt Việt 100%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6254496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6181344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1A2A3A"/>
                </a:solidFill>
                <a:latin typeface="Calibri"/>
              </a:defRPr>
            </a:pPr>
            <a:r>
              <a:t>Hỗ trợ maintain dài hạn với chi phí thỏa thuận riêng (nếu cần)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Hãy Để AI</a:t>
            </a:r>
          </a:p>
          <a:p>
            <a:pPr algn="ctr">
              <a:spcAft>
                <a:spcPts val="600"/>
              </a:spcAft>
              <a:defRPr sz="4400" b="1" i="0">
                <a:solidFill>
                  <a:srgbClr val="02C39A"/>
                </a:solidFill>
                <a:latin typeface="Georgia"/>
              </a:defRPr>
            </a:pPr>
            <a:r>
              <a:t>Giúp Mắt Việt Tuyển Đúng Người</a:t>
            </a:r>
          </a:p>
          <a:p>
            <a:pPr algn="ctr">
              <a:spcAft>
                <a:spcPts val="600"/>
              </a:spcAft>
              <a:defRPr sz="1400" b="0" i="0">
                <a:solidFill>
                  <a:srgbClr val="8A9BAE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800" b="0" i="1">
                <a:solidFill>
                  <a:srgbClr val="8A9BAE"/>
                </a:solidFill>
                <a:latin typeface="Calibri"/>
              </a:defRPr>
            </a:pPr>
            <a:r>
              <a:t>Từ Excel → AI Hiring System trong 8 tuần</a:t>
            </a:r>
          </a:p>
          <a:p>
            <a:pPr algn="ctr">
              <a:spcAft>
                <a:spcPts val="600"/>
              </a:spcAft>
              <a:defRPr sz="2000" b="1" i="0">
                <a:solidFill>
                  <a:srgbClr val="00A896"/>
                </a:solidFill>
                <a:latin typeface="Calibri"/>
              </a:defRPr>
            </a:pPr>
            <a:r>
              <a:t>35 triệu VND — sở hữu vĩnh viễn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754880"/>
            <a:ext cx="57607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Sanh Võ</a:t>
            </a:r>
          </a:p>
          <a:p>
            <a:pPr algn="ctr">
              <a:spcAft>
                <a:spcPts val="600"/>
              </a:spcAft>
              <a:defRPr sz="1300" b="0" i="1">
                <a:solidFill>
                  <a:srgbClr val="8A9BAE"/>
                </a:solidFill>
                <a:latin typeface="Calibri"/>
              </a:defRPr>
            </a:pPr>
            <a:r>
              <a:t>Developer &amp; Project Owner</a:t>
            </a:r>
          </a:p>
          <a:p>
            <a:pPr algn="ctr">
              <a:spcAft>
                <a:spcPts val="600"/>
              </a:spcAft>
              <a:defRPr sz="1300" b="0" i="0">
                <a:solidFill>
                  <a:srgbClr val="8A9BAE"/>
                </a:solidFill>
                <a:latin typeface="Calibri"/>
              </a:defRPr>
            </a:pPr>
            <a:r>
              <a:t>Mắt Việt  •  Tháng 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