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F347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91295" y="3657600"/>
            <a:ext cx="5486400" cy="5486400"/>
          </a:xfrm>
          <a:prstGeom prst="ellipse">
            <a:avLst/>
          </a:prstGeom>
          <a:solidFill>
            <a:srgbClr val="1F3478">
              <a:alpha val="50000"/>
            </a:srgbClr>
          </a:solidFill>
          <a:ln/>
        </p:spPr>
      </p:sp>
      <p:pic>
        <p:nvPicPr>
          <p:cNvPr id="5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4248" y="1097280"/>
            <a:ext cx="274320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918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tuyển dụng thông minh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81448" y="4572000"/>
            <a:ext cx="182880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Ban Giám đốc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tiến độ — Tháng 4/2026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Sanh Võ  •  Phòng Dự án Sản phẩm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ĐIỀU HÀNH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điểm chính cần biết hôm nay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64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554480" y="15819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tiến độ ~2 tuần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4480" y="20116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lõi (database + nghiệp vụ) đã hoàn thiện sớm hơn kế hoạch ban đầu.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0048"/>
            <a:ext cx="11064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670048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85292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1554480" y="2834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ở giai đoạn cài đặt database &amp; backend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54480" y="32644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logic nghiệp vụ đã chạy được. Giao diện sẽ được tinh chỉnh ở giai đoạn kế tiếp.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922776"/>
            <a:ext cx="11064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922776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105656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1554480" y="408736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phối hợp với IT để mở khóa tự động hóa email &amp; lịch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554480" y="451713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Microsoft 365 / Azure AD là điểm nghẽn chính của giai đoạn tiếp theo.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175504"/>
            <a:ext cx="11064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175504"/>
            <a:ext cx="91440" cy="114300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5358384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1554480" y="534009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demo sớm cho BOD trong 2 – 3 tuần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554480" y="57698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demo nội bộ với dữ liệu thật, đầy đủ luồng từ nhận CV → chấm điểm → phỏng vấn → phê duyệt.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chúng ta cần phần mềm tuyển dụng riêng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54864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91440" cy="4937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khăn HR đang gặp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CV trên Excel + Outlook + Zalo + giấy — dễ thất lạc.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51560" y="2651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trí nhớ cá nhân — ai đang ở vòng nào, ai đã trả lời.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51560" y="3291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ứng viên chậm 7 – 10 ngày, mất ứng viên giỏi.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515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phòng và HR không cùng nhìn vào một nguồn dữ liệu.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4572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51560" y="4572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 không có số liệu khi cần ra quyết định nhân sự.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5212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51560" y="5212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vòng phỏng vấn = một file Word + một email chuỗi dài.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1417320"/>
            <a:ext cx="53492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1417320"/>
            <a:ext cx="91440" cy="49377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 với hoạt động kinh doanh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9224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30%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822960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HR dành cho việc gõ tay, tìm CV, hẹn lịch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92240" y="2971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10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8229600" y="3017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trung bình từ lúc nhận CV đến lúc phản hồi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92240" y="3886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8229600" y="3931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hiệu quả tuyển dụng theo kênh / theo vị trí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92240" y="4800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</a:t>
            </a:r>
            <a:endParaRPr lang="en-US" sz="2800" dirty="0"/>
          </a:p>
        </p:txBody>
      </p:sp>
      <p:sp>
        <p:nvSpPr>
          <p:cNvPr id="33" name="Text 30"/>
          <p:cNvSpPr/>
          <p:nvPr/>
        </p:nvSpPr>
        <p:spPr>
          <a:xfrm>
            <a:off x="8229600" y="4846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rời đang dùng song song (Excel, Outlook, Zalo, Word, ổ đĩa)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492240" y="5897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Phần mềm này giúp HR tập trung vào việc đánh giá người, không phải chạy giấy tờ.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SẢN PHẨM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nơi duy nhất, từ CV đến quyết định tuyển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64240" cy="12801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51760"/>
            <a:ext cx="11064240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087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“Phần mềm tuyển dụng nội bộ Mắt Việt — Vietnamese-first, dùng AI để chấm điểm CV theo đúng tiêu chí của từng vị trí, gắn liền với quy trình thực tế của chị Hương và các Trưởng phòng.”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3566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3017520"/>
            <a:ext cx="91440" cy="33832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00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</a:t>
            </a:r>
            <a:endParaRPr lang="en-US" sz="4400" dirty="0"/>
          </a:p>
        </p:txBody>
      </p:sp>
      <p:sp>
        <p:nvSpPr>
          <p:cNvPr id="14" name="Shape 11"/>
          <p:cNvSpPr/>
          <p:nvPr/>
        </p:nvSpPr>
        <p:spPr>
          <a:xfrm>
            <a:off x="1874520" y="4160520"/>
            <a:ext cx="914400" cy="36576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297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thời gian sàng lọc CV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5074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chấm 6 tiêu chí, HR chỉ duyệt + xếp hạng top 5–10 ứng viên.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3017520"/>
            <a:ext cx="3566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97680" y="3017520"/>
            <a:ext cx="91440" cy="33832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9" name="Text 16"/>
          <p:cNvSpPr/>
          <p:nvPr/>
        </p:nvSpPr>
        <p:spPr>
          <a:xfrm>
            <a:off x="4389120" y="3200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48h</a:t>
            </a:r>
            <a:endParaRPr lang="en-US" sz="4400" dirty="0"/>
          </a:p>
        </p:txBody>
      </p:sp>
      <p:sp>
        <p:nvSpPr>
          <p:cNvPr id="20" name="Shape 17"/>
          <p:cNvSpPr/>
          <p:nvPr/>
        </p:nvSpPr>
        <p:spPr>
          <a:xfrm>
            <a:off x="5623560" y="4160520"/>
            <a:ext cx="914400" cy="36576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1" name="Text 18"/>
          <p:cNvSpPr/>
          <p:nvPr/>
        </p:nvSpPr>
        <p:spPr>
          <a:xfrm>
            <a:off x="4480560" y="4297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ứng viên kể từ khi nhận CV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480560" y="5074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tự động + lịch phỏng vấn tự đồng bộ với Outlook.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46720" y="3017520"/>
            <a:ext cx="3566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46720" y="3017520"/>
            <a:ext cx="91440" cy="33832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5" name="Text 22"/>
          <p:cNvSpPr/>
          <p:nvPr/>
        </p:nvSpPr>
        <p:spPr>
          <a:xfrm>
            <a:off x="8138160" y="3200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26" name="Shape 23"/>
          <p:cNvSpPr/>
          <p:nvPr/>
        </p:nvSpPr>
        <p:spPr>
          <a:xfrm>
            <a:off x="9372600" y="4160520"/>
            <a:ext cx="914400" cy="36576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0" y="4297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— BOD nhìn được mọi vòng phê duyệt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29600" y="5074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ai duyệt, ai từ chối, vì sao — lưu vĩnh viễn.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nhóm — mỗi nhóm có giao diện riêng phù hợp với cách họ làm việc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2628900" cy="64008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463040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Staff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1755648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 Bùi Thị Hương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57400"/>
            <a:ext cx="26289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19456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chính. 3 năm kinh nghiệm. Ưu tiên: dễ nhập liệu, ít click, tiếng Việt rõ ràng.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65760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chính: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3977640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Đăng tin tuyển dụng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4325112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Sàng lọc CV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4672584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Hẹn lịch phỏng vấn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5020056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Gửi offer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60420" y="1417320"/>
            <a:ext cx="262890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3497580" y="1463040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97580" y="1755648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phòng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60420" y="2057400"/>
            <a:ext cx="26289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43300" y="219456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Bận rộn, dùng điện thoại trên cửa hàng. Chỉ vào app khi có việc cần xử lý.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43300" y="365760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chính: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543300" y="3977640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Xem CV được giao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543300" y="4325112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Chấm phỏng vấn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543300" y="4672584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Đề xuất offer/từ chối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72200" y="1417320"/>
            <a:ext cx="26289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1463040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309360" y="1755648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Giám đốc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72200" y="2057400"/>
            <a:ext cx="26289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5080" y="219456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vị trí cấp Quản lý. Thỉnh thoảng vào hệ thống — UI phải đơn giản tối đa.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355080" y="365760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chính: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355080" y="3977640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Xem hồ sơ tóm tắt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355080" y="4325112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Phê duyệt / từ chối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55080" y="4672584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Xem báo cáo tổng quan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983980" y="1417320"/>
            <a:ext cx="2628900" cy="6400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7" name="Text 34"/>
          <p:cNvSpPr/>
          <p:nvPr/>
        </p:nvSpPr>
        <p:spPr>
          <a:xfrm>
            <a:off x="9121140" y="1463040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đoàn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121140" y="1755648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Tập đoàn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8983980" y="2057400"/>
            <a:ext cx="26289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66860" y="219456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cuối cùng cho vị trí cấp Quản lý cao. Cùng UI với BOD, ít quyền hơn.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166860" y="365760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chính: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166860" y="3977640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Phê duyệt cuối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166860" y="4325112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Xem audit log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45" name="Text 4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SẢN PHẨM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nhóm tính năng — chia theo trình tự phụ thuộc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37160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37160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536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196596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51660" y="153619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1851660" y="15361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60420" y="137160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60420" y="137160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3543300" y="1536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543300" y="196596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vị trí tuyển dụng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153619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15361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72200" y="137160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137160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1536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355080" y="196596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viên + Tải CV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75220" y="153619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7475220" y="15361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983980" y="137160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83980" y="137160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9166860" y="1536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166860" y="196596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AI (Gemini)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287000" y="153619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10287000" y="15361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283464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283464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2999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31520" y="34290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(Kanban)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851660" y="299923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</p:sp>
      <p:sp>
        <p:nvSpPr>
          <p:cNvPr id="37" name="Text 34"/>
          <p:cNvSpPr/>
          <p:nvPr/>
        </p:nvSpPr>
        <p:spPr>
          <a:xfrm>
            <a:off x="1851660" y="2999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360420" y="283464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360420" y="2834640"/>
            <a:ext cx="91440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7"/>
          <p:cNvSpPr/>
          <p:nvPr/>
        </p:nvSpPr>
        <p:spPr>
          <a:xfrm>
            <a:off x="3543300" y="2999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3543300" y="34290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tự động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663440" y="299923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</p:sp>
      <p:sp>
        <p:nvSpPr>
          <p:cNvPr id="43" name="Text 40"/>
          <p:cNvSpPr/>
          <p:nvPr/>
        </p:nvSpPr>
        <p:spPr>
          <a:xfrm>
            <a:off x="4663440" y="2999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IT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72200" y="283464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72200" y="2834640"/>
            <a:ext cx="91440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3"/>
          <p:cNvSpPr/>
          <p:nvPr/>
        </p:nvSpPr>
        <p:spPr>
          <a:xfrm>
            <a:off x="6355080" y="2999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6355080" y="34290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&amp; Phỏng vấn (Outlook)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475220" y="299923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</p:sp>
      <p:sp>
        <p:nvSpPr>
          <p:cNvPr id="49" name="Text 46"/>
          <p:cNvSpPr/>
          <p:nvPr/>
        </p:nvSpPr>
        <p:spPr>
          <a:xfrm>
            <a:off x="7475220" y="2999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IT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983980" y="283464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983980" y="283464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Text 49"/>
          <p:cNvSpPr/>
          <p:nvPr/>
        </p:nvSpPr>
        <p:spPr>
          <a:xfrm>
            <a:off x="9166860" y="2999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9166860" y="34290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phỏng vấn + Phê duyệt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0287000" y="299923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</p:sp>
      <p:sp>
        <p:nvSpPr>
          <p:cNvPr id="55" name="Text 52"/>
          <p:cNvSpPr/>
          <p:nvPr/>
        </p:nvSpPr>
        <p:spPr>
          <a:xfrm>
            <a:off x="10287000" y="2999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48640" y="429768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48640" y="4297680"/>
            <a:ext cx="91440" cy="132588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58" name="Text 55"/>
          <p:cNvSpPr/>
          <p:nvPr/>
        </p:nvSpPr>
        <p:spPr>
          <a:xfrm>
            <a:off x="731520" y="44622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G9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731520" y="489204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test + Nhập CSV TopCV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1851660" y="446227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3245C"/>
          </a:solidFill>
          <a:ln/>
        </p:spPr>
      </p:sp>
      <p:sp>
        <p:nvSpPr>
          <p:cNvPr id="61" name="Text 58"/>
          <p:cNvSpPr/>
          <p:nvPr/>
        </p:nvSpPr>
        <p:spPr>
          <a:xfrm>
            <a:off x="1851660" y="4462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3360420" y="429768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360420" y="4297680"/>
            <a:ext cx="91440" cy="132588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64" name="Text 61"/>
          <p:cNvSpPr/>
          <p:nvPr/>
        </p:nvSpPr>
        <p:spPr>
          <a:xfrm>
            <a:off x="3543300" y="44622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G10</a:t>
            </a:r>
            <a:endParaRPr lang="en-US" sz="2200" dirty="0"/>
          </a:p>
        </p:txBody>
      </p:sp>
      <p:sp>
        <p:nvSpPr>
          <p:cNvPr id="65" name="Text 62"/>
          <p:cNvSpPr/>
          <p:nvPr/>
        </p:nvSpPr>
        <p:spPr>
          <a:xfrm>
            <a:off x="3543300" y="489204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&amp; Phân tích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4663440" y="446227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3245C"/>
          </a:solidFill>
          <a:ln/>
        </p:spPr>
      </p:sp>
      <p:sp>
        <p:nvSpPr>
          <p:cNvPr id="67" name="Text 64"/>
          <p:cNvSpPr/>
          <p:nvPr/>
        </p:nvSpPr>
        <p:spPr>
          <a:xfrm>
            <a:off x="4663440" y="4462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6172200" y="429768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172200" y="4297680"/>
            <a:ext cx="91440" cy="1325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70" name="Text 67"/>
          <p:cNvSpPr/>
          <p:nvPr/>
        </p:nvSpPr>
        <p:spPr>
          <a:xfrm>
            <a:off x="6355080" y="44622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G11</a:t>
            </a:r>
            <a:endParaRPr lang="en-US" sz="2200" dirty="0"/>
          </a:p>
        </p:txBody>
      </p:sp>
      <p:sp>
        <p:nvSpPr>
          <p:cNvPr id="71" name="Text 68"/>
          <p:cNvSpPr/>
          <p:nvPr/>
        </p:nvSpPr>
        <p:spPr>
          <a:xfrm>
            <a:off x="6355080" y="489204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chỉnh + Khởi chạy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7475220" y="446227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9CA3AF"/>
          </a:solidFill>
          <a:ln/>
        </p:spPr>
      </p:sp>
      <p:sp>
        <p:nvSpPr>
          <p:cNvPr id="73" name="Text 70"/>
          <p:cNvSpPr/>
          <p:nvPr/>
        </p:nvSpPr>
        <p:spPr>
          <a:xfrm>
            <a:off x="7475220" y="4462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LAI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Hoàn thiện ở backend     ●  Chờ IT phối hợp     ●  Tiếp theo trong 2–3 tuần     ●  Sau giai đoạn demo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76" name="Text 73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HIỆN TẠI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ở giai đoạn cài đặt database + nghiệp vụ — vượt tiến độ ~2 tuần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2788920"/>
            <a:ext cx="1069848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788920"/>
            <a:ext cx="4539343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1294529" y="2651760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4529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22883" y="2651760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22883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51314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51238" y="2651760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51238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79669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(logic)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79592" y="2651760"/>
            <a:ext cx="411480" cy="41148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08023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tinh chỉnh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07946" y="2651760"/>
            <a:ext cx="411480" cy="41148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36377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IT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936301" y="2651760"/>
            <a:ext cx="411480" cy="41148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64731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BOD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464655" y="2651760"/>
            <a:ext cx="411480" cy="411480"/>
          </a:xfrm>
          <a:prstGeom prst="ellipse">
            <a:avLst/>
          </a:prstGeom>
          <a:solidFill>
            <a:srgbClr val="9CA3A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93086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chạy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03766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ở đây ▼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206240"/>
            <a:ext cx="26289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4206240"/>
            <a:ext cx="91440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434340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731520" y="512064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tính năng đã hoàn thiện ở backend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360420" y="4206240"/>
            <a:ext cx="26289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60420" y="4206240"/>
            <a:ext cx="91440" cy="178308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34" name="Text 31"/>
          <p:cNvSpPr/>
          <p:nvPr/>
        </p:nvSpPr>
        <p:spPr>
          <a:xfrm>
            <a:off x="3543300" y="434340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tuần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3543300" y="512064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tiến độ so với kế hoạch ban đầu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72200" y="4206240"/>
            <a:ext cx="26289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72200" y="420624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5"/>
          <p:cNvSpPr/>
          <p:nvPr/>
        </p:nvSpPr>
        <p:spPr>
          <a:xfrm>
            <a:off x="6355080" y="434340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nhóm</a:t>
            </a:r>
            <a:endParaRPr lang="en-US" sz="3000" dirty="0"/>
          </a:p>
        </p:txBody>
      </p:sp>
      <p:sp>
        <p:nvSpPr>
          <p:cNvPr id="39" name="Text 36"/>
          <p:cNvSpPr/>
          <p:nvPr/>
        </p:nvSpPr>
        <p:spPr>
          <a:xfrm>
            <a:off x="6355080" y="512064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chờ IT (G6 Email + G7 Lịch)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983980" y="4206240"/>
            <a:ext cx="26289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983980" y="4206240"/>
            <a:ext cx="91440" cy="1783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39"/>
          <p:cNvSpPr/>
          <p:nvPr/>
        </p:nvSpPr>
        <p:spPr>
          <a:xfrm>
            <a:off x="9166860" y="434340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tuần</a:t>
            </a:r>
            <a:endParaRPr lang="en-US" sz="3000" dirty="0"/>
          </a:p>
        </p:txBody>
      </p:sp>
      <p:sp>
        <p:nvSpPr>
          <p:cNvPr id="43" name="Text 40"/>
          <p:cNvSpPr/>
          <p:nvPr/>
        </p:nvSpPr>
        <p:spPr>
          <a:xfrm>
            <a:off x="9166860" y="512064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mốc demo BOD đã cam kết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45" name="Text 4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THIỆN Ở 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trên 11 nhóm — toàn bộ nghiệp vụ lõi đã chạy được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&amp; Phân quyền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RLS theo vai trò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vai trò: HR / Trưởng phòng / BOD / Tập đoàn / Admin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14173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14173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492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vị trí tuyển dụng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262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Tạo/sửa JD, mức lương, trọng số chấm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262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0060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nhóm vị trí với mẫu sẵn (sales / khúc xạ / quản lý...)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046720" y="14173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0" y="14173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82396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ứng viên + Tải CV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7532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54964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CV PDF an toàn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27532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4964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ngày tháng + thông tin liên hệ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39319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39319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32588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AI (Gemini)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7724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51560" y="4709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tiêu chí riêng cho từng nhóm vị trí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77240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51560" y="5349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được trích xuất từ CV — minh bạch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297680" y="39319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97680" y="39319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39"/>
          <p:cNvSpPr/>
          <p:nvPr/>
        </p:nvSpPr>
        <p:spPr>
          <a:xfrm>
            <a:off x="448056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07492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Kanban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452628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800600" y="4709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vòng từ “Mới” → “Nhận việc”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26280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00600" y="5349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giữa các vòng để chuyển trạng thái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046720" y="39319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046720" y="39319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7"/>
          <p:cNvSpPr/>
          <p:nvPr/>
        </p:nvSpPr>
        <p:spPr>
          <a:xfrm>
            <a:off x="822960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882396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+ Phê duyệt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27532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549640" y="4709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phỏng vấn + form đánh giá 6 tiêu chí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275320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549640" y="5349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bộ duyệt: Nhân viên (3 bước) / Quản lý (4 bước)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57" name="Text 54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SẢN PHẨM CHÍNH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lựa chọn quan trọng đã chốt trong giai đoạn này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91440" cy="91440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3040" y="15361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 — không có chế độ tiếng Anh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8745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giao diện tiếng Việt. Phù hợp với năng lực của HR và Trưởng phòng. Tránh chi phí dịch + bảo trì 2 ngôn ngữ.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377440"/>
            <a:ext cx="91440" cy="91440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2560320"/>
            <a:ext cx="548640" cy="54864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463040" y="24963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viên không cần tài khoản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63040" y="2834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giao tiếp với ứng viên qua email. Giảm rào cản đăng ký, không phải nuôi thêm hệ thống tài khoản ngoài.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33756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3337560"/>
            <a:ext cx="91440" cy="91440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463040" y="34564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chấm điểm hai vòng + tách biệt với trọng số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37947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1: AI đọc CV. Vòng 2: AI chấm 6 tiêu chí + trích bằng chứng. Trọng số tính ở lúc xem — đổi trọng số không cần chấm lại.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4297680"/>
            <a:ext cx="91440" cy="91440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28" name="Shape 25"/>
          <p:cNvSpPr/>
          <p:nvPr/>
        </p:nvSpPr>
        <p:spPr>
          <a:xfrm>
            <a:off x="777240" y="4480560"/>
            <a:ext cx="548640" cy="54864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463040" y="44165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bộ duyệt: Nhân viên / Quản lý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463040" y="47548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viên: HR → Trưởng phòng → Chốt lương (3 bước).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lý: HR → Trưởng phòng → BOD → Tập đoàn (4 bước).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5257800"/>
            <a:ext cx="91440" cy="91440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34" name="Shape 31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1463040" y="53766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PDF trước, DOCX sau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463040" y="57150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này chỉ nhận PDF (đơn giản, ổn định). DOCX sẽ thêm khi IT triển khai dịch vụ chuyển đổi (Fly.io).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39" name="Text 36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AI có bằng chứng — không phải “điểm ma”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669280" cy="4846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hệ thống chấm điểm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365760" cy="36576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1 — Đọc &amp; cấu trúc CV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62432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bóc tách thông tin: kinh nghiệm, học vấn, kỹ năng, năm tốt nghiệp...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2 — Chấm 6 tiêu chí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58444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cho điểm 0–100 cho mỗi tiêu chí + trích lời CV làm bằng chứng.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297680"/>
            <a:ext cx="365760" cy="36576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bằng chứng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54456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đối chiếu lại với CV gốc — đánh dấu ✓ thật / ⚠ ngờ ngờ.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điểm theo trọng số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550468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có thể đổi trọng số bất cứ lúc nào — điểm tổng cập nhật ngay, không cần chấm lại.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1554480"/>
            <a:ext cx="5150815" cy="4846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737360"/>
            <a:ext cx="4602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tiêu chí mặc định (vị trí Sales)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233172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ngành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28655" y="2331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262432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6766560" y="2624328"/>
            <a:ext cx="3681740" cy="16459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92608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chuyên môn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28655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21868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31"/>
          <p:cNvSpPr/>
          <p:nvPr/>
        </p:nvSpPr>
        <p:spPr>
          <a:xfrm>
            <a:off x="6766560" y="3218688"/>
            <a:ext cx="4602175" cy="164592"/>
          </a:xfrm>
          <a:prstGeom prst="rect">
            <a:avLst/>
          </a:prstGeom>
          <a:solidFill>
            <a:srgbClr val="FFE082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352044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nghiệm việc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28655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66560" y="381304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6766560" y="3813048"/>
            <a:ext cx="368174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411480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năm kinh nghiệm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728655" y="4114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66560" y="440740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6766560" y="4407408"/>
            <a:ext cx="184087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470916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vấn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728655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66560" y="500176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Shape 43"/>
          <p:cNvSpPr/>
          <p:nvPr/>
        </p:nvSpPr>
        <p:spPr>
          <a:xfrm>
            <a:off x="6766560" y="5001768"/>
            <a:ext cx="2761305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530352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địa lý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728655" y="5303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66560" y="559612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Shape 47"/>
          <p:cNvSpPr/>
          <p:nvPr/>
        </p:nvSpPr>
        <p:spPr>
          <a:xfrm>
            <a:off x="6766560" y="5596128"/>
            <a:ext cx="1840870" cy="16459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0" name="Text 48"/>
          <p:cNvSpPr/>
          <p:nvPr/>
        </p:nvSpPr>
        <p:spPr>
          <a:xfrm>
            <a:off x="6766560" y="5897880"/>
            <a:ext cx="4602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F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HR đổi trọng số: ngay lập tức danh sách ứng viên xếp lại — KHÔNG tốn thêm chi phí AI.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HỢP VỚI 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nghẽn duy nhất của giai đoạn tiếp theo — cần BOD đỡ thúc đẩy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508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280160" y="14630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nhóm tính năng (G6 Email tự động + G7 Lịch &amp; Phỏng vấn) phụ thuộc vào việc IT cấu hình Microsoft 365 / Azure AD cho công ty. Đây là việc IT làm 1 lần (~3 ngày), sau đó hệ thống chạy hoàn toàn tự động.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331720"/>
            <a:ext cx="91440" cy="4023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IT cần làm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" y="29260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hộp thư hr@matkinh.com.vn (Microsoft 365)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34290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29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ứng dụng trong Azure AD (Entra ID)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quyền Mail.Send / Calendars.ReadWrite cho ứng dụng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" y="44348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5156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Application Access Policy giới hạn quyền vào hộp thư HR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49377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SPF / DKIM / DMARC cho domain matkinh.com.vn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" y="54406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51560" y="5440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 Application ID + Client Secret cho Sanh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2331720"/>
            <a:ext cx="53492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2331720"/>
            <a:ext cx="91440" cy="4023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chuẩn bị sẵn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92240" y="29718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766560" y="29718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hướng dẫn IT — tiếng Việt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766560" y="3264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docs/integrations/ms-graph-it-setup.vi.md (307 dòng, có script PowerShell test)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92240" y="37490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766560" y="37490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thông tin HR — chị Hương điền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766560" y="4041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docs/onboarding/hr-prefill-form.vi.docx (mẫu Word có sẵn)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92240" y="45262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766560" y="4526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code email + lịch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766560" y="48188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viết &amp; test ở môi trường giả lập, chỉ cần thông tin IT là chạy thật được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92240" y="53035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766560" y="53035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xác minh sau khi IT bàn giao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766560" y="55961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gửi 1 email + đặt 1 lịch phỏng vấn thử trong vòng 1 giờ sau khi nhận khóa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2" name="Text 39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NGHỊ BOD:  giao IT chốt lịch triển khai trong tuần tới — sau đó 1 tuần là xong G6 + G7.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44" name="Text 41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DEMO SỚM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cột mốc — bất kể IT có phối hợp đúng hạn hay không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54406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91440" cy="4937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417320"/>
            <a:ext cx="54406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1 — DEMO NỘI BỘ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17556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vòng 2 tuần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Sẽ trình diễn: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26517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vị trí tuyển dụng (JD + trọng số chấm)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31089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CV PDF thật của ứng viên Mắt Việt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35661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chấm điểm + trích bằng chứng — TRỰC TIẾP trên màn hình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" y="40233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trọng số → danh sách xếp lại tức thì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44805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5156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ứng viên qua các vòng pipeline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" y="49377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5156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đánh giá phỏng vấn 6 tiêu chí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53949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51560" y="5394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4 bước cho vị trí Quản lý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72200" y="1417320"/>
            <a:ext cx="54406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2200" y="1417320"/>
            <a:ext cx="91440" cy="4937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Shape 27"/>
          <p:cNvSpPr/>
          <p:nvPr/>
        </p:nvSpPr>
        <p:spPr>
          <a:xfrm>
            <a:off x="6172200" y="1417320"/>
            <a:ext cx="544068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2 — DEMO ĐẦY ĐỦ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0" y="17556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vòng 4 tuần (sau khi IT bàn giao)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0080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thêm: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0" y="26517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67512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tự động qua hộp thư hr@matkinh.com.vn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00800" y="31089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67512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phỏng vấn — tự đồng bộ Outlook &amp; Teams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400800" y="35661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67512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Microsoft Teams tự động cho phỏng vấn online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00800" y="40233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67512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email theo từng ứng viên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00800" y="44805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67512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theo kênh tuyển + theo vị trí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400800" y="49377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67512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CV từ TopCV / CareerViet (tự động)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47" name="Text 44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 muốn xem demo Pha 1 ngày nào? — Chủ động đặt lịch ngay sau buổi họp này.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49" name="Text 46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&amp; GIẢM THIỂU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nhận diện trước — không bị bất ngờ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17320"/>
            <a:ext cx="9144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16002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86000" y="1554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chậm cấu hình Microsoft 365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0" y="1554480"/>
            <a:ext cx="18288" cy="5486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1527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66560" y="17647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1 demo không cần IT — chứng minh giá trị trước. BOD đỡ thúc đẩy lịch IT.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23317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33172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2514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286000" y="2468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Gemini API tăng nếu nhiều CV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0" y="2468880"/>
            <a:ext cx="18288" cy="5486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766560" y="26791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động tự động ở mức 5 USD/ngày, ngắt mạch ở 25 USD/ngày. Hiện tại ~0,003 USD/CV.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32461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324612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3"/>
          <p:cNvSpPr/>
          <p:nvPr/>
        </p:nvSpPr>
        <p:spPr>
          <a:xfrm>
            <a:off x="777240" y="34290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286000" y="3383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chấm sai → ảnh hưởng quyết định tuyển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83680" y="3383280"/>
            <a:ext cx="18288" cy="5486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7"/>
          <p:cNvSpPr/>
          <p:nvPr/>
        </p:nvSpPr>
        <p:spPr>
          <a:xfrm>
            <a:off x="676656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766560" y="35935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điểm AI đều có bằng chứng trích từ CV để HR đối chiếu. HR có thể chấm thủ công bất cứ lúc nào.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416052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1"/>
          <p:cNvSpPr/>
          <p:nvPr/>
        </p:nvSpPr>
        <p:spPr>
          <a:xfrm>
            <a:off x="777240" y="43434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286000" y="4297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 Hương khó thích nghi với hệ thống mới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583680" y="4297680"/>
            <a:ext cx="18288" cy="5486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5"/>
          <p:cNvSpPr/>
          <p:nvPr/>
        </p:nvSpPr>
        <p:spPr>
          <a:xfrm>
            <a:off x="6766560" y="4270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766560" y="45079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100% tiếng Việt, đã được thiết kế dựa trên cách làm hiện tại. Có buổi đào tạo 2h trước khi vận hành chính thức.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8640" y="507492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Shape 39"/>
          <p:cNvSpPr/>
          <p:nvPr/>
        </p:nvSpPr>
        <p:spPr>
          <a:xfrm>
            <a:off x="777240" y="5257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3" name="Text 40"/>
          <p:cNvSpPr/>
          <p:nvPr/>
        </p:nvSpPr>
        <p:spPr>
          <a:xfrm>
            <a:off x="777240" y="5257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286000" y="5212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dữ liệu / lỗi bảo mật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583680" y="5212080"/>
            <a:ext cx="18288" cy="5486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3"/>
          <p:cNvSpPr/>
          <p:nvPr/>
        </p:nvSpPr>
        <p:spPr>
          <a:xfrm>
            <a:off x="6766560" y="5184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766560" y="54223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 có sao lưu Point-in-Time 7 ngày. RLS bật đầy đủ — mỗi vai trò chỉ thấy dữ liệu của mình.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</p:sp>
      <p:sp>
        <p:nvSpPr>
          <p:cNvPr id="49" name="Text 46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36576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3" name="Image 0" descr="E:\NEW APP\HR imrovement\Mắt Việt HR\app\public\brand\MV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98568" y="822960"/>
            <a:ext cx="219456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BAN GIÁM ĐỐC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181448" y="3429000"/>
            <a:ext cx="182880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&amp; Thảo luận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49528" y="457200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F3478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32408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demo Pha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32408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2 tuần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41368" y="457200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F3478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4248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BOD thúc đẩy 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24248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triển khai tuần tới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33208" y="457200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F3478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16088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hợp HR — chị Hương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16088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phiếu thông tin trong tuần này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Sanh Võ  •  sanh.vlt@matkinh.com.vn  •  Phòng Dự án Sản phẩm — Mắt Việt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Tháng 4/2026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Mắt Việt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Mắt Việt HR — Cập nhật Ban Giám đốc</dc:title>
  <dc:subject>Báo cáo tiến độ phần mềm tuyển dụng nội bộ</dc:subject>
  <dc:creator>Sanh Võ</dc:creator>
  <cp:lastModifiedBy>Sanh Võ</cp:lastModifiedBy>
  <cp:revision>1</cp:revision>
  <dcterms:created xsi:type="dcterms:W3CDTF">2026-04-29T09:57:32Z</dcterms:created>
  <dcterms:modified xsi:type="dcterms:W3CDTF">2026-04-29T09:57:32Z</dcterms:modified>
</cp:coreProperties>
</file>